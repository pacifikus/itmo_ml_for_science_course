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85" r:id="rId4"/>
    <p:sldId id="286" r:id="rId5"/>
    <p:sldId id="287" r:id="rId6"/>
    <p:sldId id="288" r:id="rId7"/>
    <p:sldId id="289" r:id="rId8"/>
    <p:sldId id="297" r:id="rId9"/>
    <p:sldId id="292" r:id="rId10"/>
    <p:sldId id="293" r:id="rId11"/>
    <p:sldId id="295" r:id="rId12"/>
    <p:sldId id="296" r:id="rId13"/>
    <p:sldId id="29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ристина Желтова" initials="КЖ" lastIdx="1" clrIdx="0">
    <p:extLst>
      <p:ext uri="{19B8F6BF-5375-455C-9EA6-DF929625EA0E}">
        <p15:presenceInfo xmlns:p15="http://schemas.microsoft.com/office/powerpoint/2012/main" userId="e393ba5682dd51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824A0-EC7F-4813-A3E7-82F7E7F5E905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8B55A-CABE-4C0C-8FF5-83437BB90D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2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A3869-2954-8DE5-1173-EA6A36B51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9E1B0A-93EE-5098-4C31-1B428DA6A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53EDE-9EB5-6403-C13D-74E46AEE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938530-CD4C-321A-2C6F-192A5DD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50CA22-EC29-0938-80C4-A3982947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3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E3112-94BE-A1D4-CC93-EFD9CDBA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149E3-6C1C-9EBB-FE4C-60C45DD6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761EA-2BB0-5E10-18F3-F184501E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8D7B8-DCB8-6932-1BE0-BE8AECC2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A6181A-180F-39E2-3FA2-B436237E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49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67713-AAE8-A5F9-FEF5-E57A928D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E28430-0353-180D-4F84-78B5EF937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9386B-52B9-E46A-674A-2BF01C72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89592F-F752-59D6-0341-C90AE76F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09F07D-4403-E811-7FDE-835D39A7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48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F62E2-5BB4-6C72-DD36-C106B086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9EC6F-2B76-E6D0-86F6-4D7CCD21A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7644D1-C175-75DC-0146-FE2481941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B0ED-D620-86A3-3AE8-37946796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3CE183-4E63-AA5E-AF10-CE11C1E0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9111AF-D48D-353F-7538-6967D43D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5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932C3-1889-1E84-5CBE-A1F8238A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4B15E-D297-CDE8-66A5-A3FB2D47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F4D7D-00C9-4ACA-0E6B-761DEAF4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574226-3B52-2DDA-B78D-64843B133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948F68-1C70-E5DD-1BDB-0C90E4529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70FD9E-D77D-143D-B3E7-92DFDB8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E4BAA2-C3C7-EB1C-7094-97761628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03B516-78C4-8E6E-2164-FA0D343F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88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CE819-3AF1-4A66-9DCE-621CEC1C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321C4B-44A1-2F11-3BFB-6712C431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883F47-0BEC-C809-280A-71FB731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018B8A-8C7E-FD44-C09C-263870C4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13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148117-BD83-99F1-D098-195D1EC2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B00001-66A6-277D-8321-927B57B5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20873E-F893-5F26-8246-A3DABB6A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0C5B8-2530-7CDE-E01B-230DD7EE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82F76-BF9E-7C65-FBCE-DD33CE55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F581E2-1EA4-27DD-CF27-587DEBAEA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656D4C-F27A-111C-B718-1DE58374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0DB45E-5F39-FECC-2BB3-6B944900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D3CDF-DB79-906C-784A-9E7079C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1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2F77A-0E3D-1FEE-7177-F2A07597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32353B-A509-695E-30F7-2C6C7805B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85F8F8-1F35-DCA1-3055-2F762FB17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30ABF2-FD6D-E699-7682-2AA189CC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1D22DC-E2A2-5AEE-782E-B88086B9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66FF9B-B57D-C6A5-2F32-51CB1F50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11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9781C-8C6D-6388-F200-142ECF28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0E2EC0-EF13-E5E5-AC5F-20E9BE76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1D4C0-514E-3C9C-B236-E30E178D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F0851-5B49-7114-DE7D-07B0B49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ABB74-AE76-1AA4-B3AD-C3E4451C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0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AF5B72-580E-EAEB-1B65-0C9EB2568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79CD2E-CCA5-4665-4880-1CBBB0484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ED1DD-FB7A-2F9C-5B4D-BF4A408A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47C08E-E78A-A31F-59AA-B902F8F9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6C118-DEBB-ACEB-9C85-A8BFAEBD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57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525A0-E06F-A804-ADBB-0EC2E18D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657EDE-CD79-55B2-0D25-5C0101A7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1659D-3967-57E1-D293-831530B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7071-E7D1-4F0D-90F4-41EE461A2EB9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11CFA-4BEE-B020-86B0-FB8ACCB92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38E8E-41F4-034F-39C8-E9CE7B160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87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pacifikus/d4abfcaa0beed1c311a9ec1c1362cebe" TargetMode="External"/><Relationship Id="rId2" Type="http://schemas.openxmlformats.org/officeDocument/2006/relationships/hyperlink" Target="https://gist.github.com/pacifikus/b45dd720ec74d15a8e7e2b9959024c5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st.github.com/pacifikus/3aff38157f190a6e64c29db5ef021e75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0171" y="1440436"/>
            <a:ext cx="10931658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sz="4400" dirty="0"/>
              <a:t>Машинное обучение для анализа научных данных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Примерный план курса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39066AAF-F012-8E56-E267-1F3B474289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758892"/>
              </p:ext>
            </p:extLst>
          </p:nvPr>
        </p:nvGraphicFramePr>
        <p:xfrm>
          <a:off x="975360" y="1375952"/>
          <a:ext cx="7398619" cy="5177247"/>
        </p:xfrm>
        <a:graphic>
          <a:graphicData uri="http://schemas.openxmlformats.org/drawingml/2006/table">
            <a:tbl>
              <a:tblPr/>
              <a:tblGrid>
                <a:gridCol w="7398619">
                  <a:extLst>
                    <a:ext uri="{9D8B030D-6E8A-4147-A177-3AD203B41FA5}">
                      <a16:colId xmlns:a16="http://schemas.microsoft.com/office/drawing/2014/main" val="2385034589"/>
                    </a:ext>
                  </a:extLst>
                </a:gridCol>
              </a:tblGrid>
              <a:tr h="5177247">
                <a:tc>
                  <a:txBody>
                    <a:bodyPr/>
                    <a:lstStyle/>
                    <a:p>
                      <a:r>
                        <a:rPr lang="ru-RU" sz="1400" b="1" dirty="0"/>
                        <a:t>Блок 1: Введение в машинное обучение, инструменты, основные задачи</a:t>
                      </a:r>
                      <a:endParaRPr lang="ru-RU" sz="1400" dirty="0"/>
                    </a:p>
                    <a:p>
                      <a:pPr lvl="1"/>
                      <a:r>
                        <a:rPr lang="ru-RU" sz="1400" dirty="0"/>
                        <a:t>1.1 </a:t>
                      </a:r>
                      <a:r>
                        <a:rPr lang="ru-RU" sz="1400" dirty="0" err="1"/>
                        <a:t>Numpy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Pandas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Jupyter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Notebook</a:t>
                      </a:r>
                      <a:r>
                        <a:rPr lang="ru-RU" sz="1400" dirty="0"/>
                        <a:t> &amp; </a:t>
                      </a:r>
                      <a:r>
                        <a:rPr lang="ru-RU" sz="1400" dirty="0" err="1"/>
                        <a:t>Colab</a:t>
                      </a:r>
                      <a:r>
                        <a:rPr lang="ru-RU" sz="1400" dirty="0"/>
                        <a:t>, профилирование кода по памяти/времени</a:t>
                      </a:r>
                    </a:p>
                    <a:p>
                      <a:pPr lvl="1"/>
                      <a:r>
                        <a:rPr lang="ru-RU" sz="1400" dirty="0"/>
                        <a:t>1.2 Обработка больших массивов данных: оптимизация </a:t>
                      </a:r>
                      <a:r>
                        <a:rPr lang="ru-RU" sz="1400" dirty="0" err="1"/>
                        <a:t>Pandas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Dask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Polars</a:t>
                      </a:r>
                      <a:r>
                        <a:rPr lang="ru-RU" sz="1400" dirty="0"/>
                        <a:t>, </a:t>
                      </a:r>
                      <a:r>
                        <a:rPr lang="en-US" sz="1400" dirty="0" err="1"/>
                        <a:t>Numba</a:t>
                      </a:r>
                      <a:endParaRPr lang="ru-RU" sz="1400" dirty="0"/>
                    </a:p>
                    <a:p>
                      <a:pPr lvl="1"/>
                      <a:r>
                        <a:rPr lang="ru-RU" sz="1400" dirty="0"/>
                        <a:t>1.3 Визуализация, </a:t>
                      </a:r>
                      <a:r>
                        <a:rPr lang="ru-RU" sz="1400" dirty="0" err="1"/>
                        <a:t>Matplotlib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Seaborn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Plotly</a:t>
                      </a:r>
                      <a:endParaRPr lang="ru-RU" sz="1400" dirty="0"/>
                    </a:p>
                    <a:p>
                      <a:pPr lvl="1"/>
                      <a:r>
                        <a:rPr lang="ru-RU" sz="1400" dirty="0"/>
                        <a:t>1.4 EDA (</a:t>
                      </a:r>
                      <a:r>
                        <a:rPr lang="ru-RU" sz="1400" dirty="0" err="1"/>
                        <a:t>эксплораторный</a:t>
                      </a:r>
                      <a:r>
                        <a:rPr lang="ru-RU" sz="1400" dirty="0"/>
                        <a:t> анализ)</a:t>
                      </a:r>
                    </a:p>
                    <a:p>
                      <a:pPr lvl="1"/>
                      <a:r>
                        <a:rPr lang="ru-RU" sz="1400" dirty="0"/>
                        <a:t>1.5 Типология задач в ML</a:t>
                      </a:r>
                    </a:p>
                    <a:p>
                      <a:pPr lvl="1"/>
                      <a:r>
                        <a:rPr lang="ru-RU" sz="1400" dirty="0"/>
                        <a:t>1.6 Измерение качества в ML, основные метрики задач классификации и регрессии</a:t>
                      </a:r>
                    </a:p>
                    <a:p>
                      <a:pPr lvl="1"/>
                      <a:endParaRPr lang="ru-RU" sz="1400" dirty="0"/>
                    </a:p>
                    <a:p>
                      <a:r>
                        <a:rPr lang="ru-RU" sz="1400" b="1" dirty="0"/>
                        <a:t>Блок 2: Базовые алгоритмы и техники машинного обучения</a:t>
                      </a:r>
                      <a:endParaRPr lang="ru-RU" sz="1400" dirty="0"/>
                    </a:p>
                    <a:p>
                      <a:pPr lvl="1"/>
                      <a:r>
                        <a:rPr lang="ru-RU" sz="1400" dirty="0"/>
                        <a:t>2.1 Базовые алгоритмы ML: линейная/логистическая регрессии, SVM, деревья решений, KNN</a:t>
                      </a:r>
                    </a:p>
                    <a:p>
                      <a:pPr lvl="1"/>
                      <a:r>
                        <a:rPr lang="ru-RU" sz="1400" dirty="0"/>
                        <a:t>2.2 Интерпретация базовых алгоритмов &amp; анализ ошибок модели</a:t>
                      </a:r>
                    </a:p>
                    <a:p>
                      <a:pPr lvl="1"/>
                      <a:r>
                        <a:rPr lang="ru-RU" sz="1400" dirty="0"/>
                        <a:t>2.3 </a:t>
                      </a:r>
                      <a:r>
                        <a:rPr lang="ru-RU" sz="1400" dirty="0" err="1"/>
                        <a:t>Кроссвалидация</a:t>
                      </a:r>
                      <a:r>
                        <a:rPr lang="ru-RU" sz="1400" dirty="0"/>
                        <a:t> - базовые и продвинутые схемы</a:t>
                      </a:r>
                    </a:p>
                    <a:p>
                      <a:pPr lvl="1"/>
                      <a:r>
                        <a:rPr lang="ru-RU" sz="1400" dirty="0"/>
                        <a:t>2.4 Обеспечение воспроизводимости экспериментов: инструменты и лучшие практики</a:t>
                      </a:r>
                    </a:p>
                    <a:p>
                      <a:pPr lvl="1"/>
                      <a:endParaRPr lang="ru-RU" sz="1400" dirty="0"/>
                    </a:p>
                    <a:p>
                      <a:r>
                        <a:rPr lang="ru-RU" sz="1400" b="1" dirty="0"/>
                        <a:t>Блок 3: Продвинутые алгоритмы машинного обучения</a:t>
                      </a:r>
                      <a:endParaRPr lang="ru-RU" sz="1400" dirty="0"/>
                    </a:p>
                    <a:p>
                      <a:pPr lvl="1"/>
                      <a:r>
                        <a:rPr lang="ru-RU" sz="1400" dirty="0"/>
                        <a:t>3.1 Случайный лес, градиентный </a:t>
                      </a:r>
                      <a:r>
                        <a:rPr lang="ru-RU" sz="1400" dirty="0" err="1"/>
                        <a:t>бустинг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ансамблирование</a:t>
                      </a:r>
                      <a:endParaRPr lang="ru-RU" sz="1400" dirty="0"/>
                    </a:p>
                    <a:p>
                      <a:pPr lvl="1"/>
                      <a:r>
                        <a:rPr lang="ru-RU" sz="1400" dirty="0"/>
                        <a:t>3.2 Улучшение модели: оптимизация </a:t>
                      </a:r>
                      <a:r>
                        <a:rPr lang="ru-RU" sz="1400" dirty="0" err="1"/>
                        <a:t>гиперпараметров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feature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engineering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feature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selection</a:t>
                      </a:r>
                      <a:r>
                        <a:rPr lang="ru-RU" sz="1400" dirty="0"/>
                        <a:t>, регуляризация, генерация синтетических данных</a:t>
                      </a:r>
                    </a:p>
                    <a:p>
                      <a:pPr lvl="1"/>
                      <a:r>
                        <a:rPr lang="ru-RU" sz="1400" dirty="0"/>
                        <a:t>3.3 Интерпретация моделей: </a:t>
                      </a:r>
                      <a:r>
                        <a:rPr lang="ru-RU" sz="1400" dirty="0" err="1"/>
                        <a:t>Shap</a:t>
                      </a:r>
                      <a:r>
                        <a:rPr lang="ru-RU" sz="1400" dirty="0"/>
                        <a:t>, LIME, …</a:t>
                      </a:r>
                    </a:p>
                    <a:p>
                      <a:pPr lvl="1"/>
                      <a:r>
                        <a:rPr lang="ru-RU" sz="1400" dirty="0"/>
                        <a:t>3.4 Машинное обучение без учителя: кластеризация, поиск аномалий, снижение размерности</a:t>
                      </a:r>
                    </a:p>
                    <a:p>
                      <a:pPr lvl="1"/>
                      <a:r>
                        <a:rPr lang="ru-RU" sz="1400" dirty="0"/>
                        <a:t>3.5 Упаковка, конвертация и оптимизация </a:t>
                      </a:r>
                      <a:r>
                        <a:rPr lang="ru-RU" sz="1400" dirty="0" err="1"/>
                        <a:t>inference</a:t>
                      </a:r>
                      <a:endParaRPr lang="ru-RU" sz="1400" dirty="0"/>
                    </a:p>
                  </a:txBody>
                  <a:tcPr marL="19779" marR="19779" marT="13186" marB="13186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780675"/>
                  </a:ext>
                </a:extLst>
              </a:tr>
            </a:tbl>
          </a:graphicData>
        </a:graphic>
      </p:graphicFrame>
      <p:pic>
        <p:nvPicPr>
          <p:cNvPr id="3" name="Рисунок 2" descr="r/ProgrammerHumor - youDontNeedAClassifierWhenYouCanThrowATransformerAtTheProblem">
            <a:extLst>
              <a:ext uri="{FF2B5EF4-FFF2-40B4-BE49-F238E27FC236}">
                <a16:creationId xmlns:a16="http://schemas.microsoft.com/office/drawing/2014/main" id="{2F1A2098-42BB-DF57-EB53-DB4B29345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409" y="1714500"/>
            <a:ext cx="38965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9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закрыть курс?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2212" cy="4351338"/>
          </a:xfrm>
        </p:spPr>
        <p:txBody>
          <a:bodyPr>
            <a:normAutofit/>
          </a:bodyPr>
          <a:lstStyle/>
          <a:p>
            <a:r>
              <a:rPr lang="ru-RU" dirty="0"/>
              <a:t>3 домашних задания </a:t>
            </a:r>
            <a:r>
              <a:rPr lang="en-US" dirty="0"/>
              <a:t>–</a:t>
            </a:r>
            <a:r>
              <a:rPr lang="ru-RU" dirty="0"/>
              <a:t> </a:t>
            </a:r>
            <a:r>
              <a:rPr lang="en-US" dirty="0"/>
              <a:t>10</a:t>
            </a:r>
            <a:r>
              <a:rPr lang="ru-RU" dirty="0"/>
              <a:t>0 баллов</a:t>
            </a:r>
          </a:p>
          <a:p>
            <a:r>
              <a:rPr lang="ru-RU" dirty="0"/>
              <a:t>Устная защита – бинарный множитель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Итоговая оценка = (ДЗ) * защита</a:t>
            </a:r>
          </a:p>
          <a:p>
            <a:endParaRPr lang="ru-RU" dirty="0"/>
          </a:p>
          <a:p>
            <a:r>
              <a:rPr lang="en-US" dirty="0"/>
              <a:t>[85; </a:t>
            </a:r>
            <a:r>
              <a:rPr lang="ru-RU" dirty="0"/>
              <a:t>10</a:t>
            </a:r>
            <a:r>
              <a:rPr lang="en-US" dirty="0"/>
              <a:t>0] </a:t>
            </a:r>
            <a:r>
              <a:rPr lang="ru-RU" dirty="0"/>
              <a:t>баллов – «</a:t>
            </a:r>
            <a:r>
              <a:rPr lang="en-US" dirty="0"/>
              <a:t>5</a:t>
            </a:r>
            <a:r>
              <a:rPr lang="ru-RU" dirty="0"/>
              <a:t>»</a:t>
            </a:r>
            <a:endParaRPr lang="en-US" dirty="0"/>
          </a:p>
          <a:p>
            <a:r>
              <a:rPr lang="en-US" dirty="0"/>
              <a:t>[70; 84]   </a:t>
            </a:r>
            <a:r>
              <a:rPr lang="ru-RU" dirty="0"/>
              <a:t>баллов – «</a:t>
            </a:r>
            <a:r>
              <a:rPr lang="en-US" dirty="0"/>
              <a:t>4</a:t>
            </a:r>
            <a:r>
              <a:rPr lang="ru-RU" dirty="0"/>
              <a:t>»</a:t>
            </a:r>
          </a:p>
          <a:p>
            <a:r>
              <a:rPr lang="en-US" dirty="0"/>
              <a:t>[60; 69]   </a:t>
            </a:r>
            <a:r>
              <a:rPr lang="ru-RU" dirty="0"/>
              <a:t>баллов – «</a:t>
            </a:r>
            <a:r>
              <a:rPr lang="en-US" dirty="0"/>
              <a:t>3</a:t>
            </a:r>
            <a:r>
              <a:rPr lang="ru-RU" dirty="0"/>
              <a:t>»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FF0000"/>
              </a:solidFill>
            </a:endParaRPr>
          </a:p>
          <a:p>
            <a:endParaRPr lang="ru-RU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45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за ДЗ такие?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2FA716EE-80BF-1E03-C31F-8774B8572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Пример ДЗ прошлых лет*:</a:t>
            </a:r>
            <a:endParaRPr lang="ru-RU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ru-RU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ДЗ 1</a:t>
            </a:r>
            <a:endParaRPr lang="ru-RU" dirty="0"/>
          </a:p>
          <a:p>
            <a:r>
              <a:rPr lang="ru-RU" dirty="0">
                <a:hlinkClick r:id="rId3"/>
              </a:rPr>
              <a:t>ДЗ 2</a:t>
            </a:r>
            <a:endParaRPr lang="ru-RU" dirty="0"/>
          </a:p>
          <a:p>
            <a:r>
              <a:rPr lang="ru-RU" dirty="0">
                <a:hlinkClick r:id="rId4"/>
              </a:rPr>
              <a:t>ДЗ 3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*Формулировки ДЗ несколько поменяются, так как программа тоже меняется</a:t>
            </a:r>
          </a:p>
        </p:txBody>
      </p:sp>
    </p:spTree>
    <p:extLst>
      <p:ext uri="{BB962C8B-B14F-4D97-AF65-F5344CB8AC3E}">
        <p14:creationId xmlns:p14="http://schemas.microsoft.com/office/powerpoint/2010/main" val="1048934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сдавать ДЗ?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658" cy="4351338"/>
          </a:xfrm>
        </p:spPr>
        <p:txBody>
          <a:bodyPr>
            <a:normAutofit/>
          </a:bodyPr>
          <a:lstStyle/>
          <a:p>
            <a:r>
              <a:rPr lang="ru-RU" dirty="0"/>
              <a:t>Создать приватный репозиторий на </a:t>
            </a:r>
            <a:r>
              <a:rPr lang="en-US" dirty="0"/>
              <a:t>GitHub</a:t>
            </a:r>
          </a:p>
          <a:p>
            <a:r>
              <a:rPr lang="ru-RU" dirty="0"/>
              <a:t>Дать доступ </a:t>
            </a:r>
            <a:r>
              <a:rPr lang="en-US" dirty="0"/>
              <a:t>@pacifikus</a:t>
            </a:r>
          </a:p>
          <a:p>
            <a:r>
              <a:rPr lang="ru-RU" dirty="0"/>
              <a:t>Каждая домашняя работа –</a:t>
            </a:r>
            <a:r>
              <a:rPr lang="en-US" dirty="0"/>
              <a:t> PR </a:t>
            </a:r>
            <a:r>
              <a:rPr lang="ru-RU" dirty="0"/>
              <a:t>в отдельную ветку </a:t>
            </a:r>
            <a:r>
              <a:rPr lang="en-US" dirty="0" err="1"/>
              <a:t>hw_n</a:t>
            </a:r>
            <a:endParaRPr lang="en-US" dirty="0"/>
          </a:p>
          <a:p>
            <a:r>
              <a:rPr lang="ru-RU" dirty="0"/>
              <a:t>Добавить </a:t>
            </a:r>
            <a:r>
              <a:rPr lang="en-US" dirty="0"/>
              <a:t>@pacifikus </a:t>
            </a:r>
            <a:r>
              <a:rPr lang="ru-RU" dirty="0"/>
              <a:t>как </a:t>
            </a:r>
            <a:r>
              <a:rPr lang="ru-RU" dirty="0" err="1"/>
              <a:t>ревьювера</a:t>
            </a:r>
            <a:endParaRPr lang="ru-RU" dirty="0"/>
          </a:p>
          <a:p>
            <a:r>
              <a:rPr lang="ru-RU" dirty="0"/>
              <a:t>Дождаться ревью, если все </a:t>
            </a:r>
            <a:r>
              <a:rPr lang="ru-RU" dirty="0" err="1"/>
              <a:t>ок</a:t>
            </a:r>
            <a:r>
              <a:rPr lang="ru-RU" dirty="0"/>
              <a:t> – </a:t>
            </a:r>
            <a:r>
              <a:rPr lang="ru-RU" dirty="0" err="1"/>
              <a:t>мержим</a:t>
            </a:r>
            <a:r>
              <a:rPr lang="ru-RU" dirty="0"/>
              <a:t> в </a:t>
            </a:r>
            <a:r>
              <a:rPr lang="en-US" dirty="0"/>
              <a:t>main</a:t>
            </a:r>
            <a:endParaRPr lang="ru-RU" dirty="0"/>
          </a:p>
          <a:p>
            <a:r>
              <a:rPr lang="ru-RU" dirty="0"/>
              <a:t>Если не </a:t>
            </a:r>
            <a:r>
              <a:rPr lang="ru-RU" dirty="0" err="1"/>
              <a:t>ок</a:t>
            </a:r>
            <a:r>
              <a:rPr lang="ru-RU" dirty="0"/>
              <a:t> – вносим исправления и снова отправляем на ревью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Ссылка на видео про работу с гитом будет в чате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759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открытия </a:t>
            </a:r>
            <a:r>
              <a:rPr lang="en-US" dirty="0"/>
              <a:t>PR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0B0CAC3-374D-F577-35F2-CDA692858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9080" y="1869168"/>
            <a:ext cx="6733839" cy="4351338"/>
          </a:xfr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0410AAA7-FD48-C51A-BBB3-80390EA7E58A}"/>
              </a:ext>
            </a:extLst>
          </p:cNvPr>
          <p:cNvCxnSpPr>
            <a:cxnSpLocks/>
          </p:cNvCxnSpPr>
          <p:nvPr/>
        </p:nvCxnSpPr>
        <p:spPr>
          <a:xfrm flipV="1">
            <a:off x="2107474" y="2786743"/>
            <a:ext cx="1166949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D9D221-DA99-8861-159A-B997B22741C2}"/>
              </a:ext>
            </a:extLst>
          </p:cNvPr>
          <p:cNvSpPr txBox="1"/>
          <p:nvPr/>
        </p:nvSpPr>
        <p:spPr>
          <a:xfrm>
            <a:off x="757645" y="3100252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Название </a:t>
            </a:r>
            <a:r>
              <a:rPr lang="en-US" dirty="0"/>
              <a:t>PR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5919DDF-33EF-D4EA-DACB-0A9108FB01D2}"/>
              </a:ext>
            </a:extLst>
          </p:cNvPr>
          <p:cNvCxnSpPr/>
          <p:nvPr/>
        </p:nvCxnSpPr>
        <p:spPr>
          <a:xfrm flipH="1" flipV="1">
            <a:off x="9265920" y="3248297"/>
            <a:ext cx="818605" cy="383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05070B-7610-485A-CBFE-5BD03F2CF311}"/>
              </a:ext>
            </a:extLst>
          </p:cNvPr>
          <p:cNvSpPr txBox="1"/>
          <p:nvPr/>
        </p:nvSpPr>
        <p:spPr>
          <a:xfrm>
            <a:off x="10084525" y="3544388"/>
            <a:ext cx="128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Добавляем </a:t>
            </a:r>
            <a:r>
              <a:rPr lang="ru-RU" dirty="0" err="1"/>
              <a:t>ревьювера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AC92C95A-7850-F4DA-FEBF-2B2029F6CCC0}"/>
              </a:ext>
            </a:extLst>
          </p:cNvPr>
          <p:cNvCxnSpPr/>
          <p:nvPr/>
        </p:nvCxnSpPr>
        <p:spPr>
          <a:xfrm flipV="1">
            <a:off x="2020389" y="3544388"/>
            <a:ext cx="1254034" cy="6463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2754DC-890E-77E2-2A38-456B288D22DC}"/>
              </a:ext>
            </a:extLst>
          </p:cNvPr>
          <p:cNvSpPr txBox="1"/>
          <p:nvPr/>
        </p:nvSpPr>
        <p:spPr>
          <a:xfrm>
            <a:off x="261257" y="4246054"/>
            <a:ext cx="280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Комментарии по желанию</a:t>
            </a:r>
          </a:p>
        </p:txBody>
      </p:sp>
    </p:spTree>
    <p:extLst>
      <p:ext uri="{BB962C8B-B14F-4D97-AF65-F5344CB8AC3E}">
        <p14:creationId xmlns:p14="http://schemas.microsoft.com/office/powerpoint/2010/main" val="2263465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сдавать ДЗ?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dirty="0"/>
              <a:t>Жесткий дедлайн – 2 недели с момента выдачи ДЗ</a:t>
            </a:r>
          </a:p>
          <a:p>
            <a:r>
              <a:rPr lang="ru-RU" dirty="0"/>
              <a:t>После жесткого дедлайна работа будет проверяться без баллов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Непредвиденные обстоятельства обсуждаются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251717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A1CAC-A455-E3FF-3ECF-38D04D33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ИИ</a:t>
            </a:r>
          </a:p>
        </p:txBody>
      </p:sp>
      <p:pic>
        <p:nvPicPr>
          <p:cNvPr id="4" name="Объект 3" descr="aiCode : r/ProgrammerHumor">
            <a:extLst>
              <a:ext uri="{FF2B5EF4-FFF2-40B4-BE49-F238E27FC236}">
                <a16:creationId xmlns:a16="http://schemas.microsoft.com/office/drawing/2014/main" id="{68B84C40-7E8F-3F91-C5E3-F29DDB210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4193" y="1584993"/>
            <a:ext cx="3883614" cy="513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41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Коммуникация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dirty="0"/>
              <a:t>Чат в </a:t>
            </a:r>
            <a:r>
              <a:rPr lang="en-US" dirty="0" err="1"/>
              <a:t>tg</a:t>
            </a:r>
            <a:r>
              <a:rPr lang="ru-RU" dirty="0"/>
              <a:t> для любых вопросов по курсу</a:t>
            </a:r>
          </a:p>
          <a:p>
            <a:r>
              <a:rPr lang="ru-RU" dirty="0"/>
              <a:t>Можно также писать в </a:t>
            </a:r>
            <a:r>
              <a:rPr lang="ru-RU" dirty="0" err="1"/>
              <a:t>личку</a:t>
            </a:r>
            <a:r>
              <a:rPr lang="ru-RU" dirty="0"/>
              <a:t>, если не хочется в чат</a:t>
            </a:r>
          </a:p>
        </p:txBody>
      </p:sp>
    </p:spTree>
    <p:extLst>
      <p:ext uri="{BB962C8B-B14F-4D97-AF65-F5344CB8AC3E}">
        <p14:creationId xmlns:p14="http://schemas.microsoft.com/office/powerpoint/2010/main" val="3385823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Небольшая синхронизация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Напишите, пожалуйста, насколько хорошо вы знакомы с: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Python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9801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Небольшая синхронизация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Напишите, пожалуйста, насколько хорошо вы знакомы с: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Python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GIT &amp;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Jupyter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Notebook</a:t>
            </a:r>
          </a:p>
          <a:p>
            <a:pPr lvl="1"/>
            <a:endParaRPr lang="en-US" dirty="0">
              <a:solidFill>
                <a:srgbClr val="1F2328"/>
              </a:solidFill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307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Небольшая синхронизация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Напишите, пожалуйста, насколько хорошо вы знакомы с: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Python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GIT &amp;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Jupyter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Notebook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ML</a:t>
            </a:r>
          </a:p>
          <a:p>
            <a:pPr lvl="1"/>
            <a:endParaRPr lang="en-US" dirty="0">
              <a:solidFill>
                <a:srgbClr val="1F2328"/>
              </a:solidFill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0291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Ожидания от курса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Я хочу чтобы на этом курсе было…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Я хочу чтобы на этом курсе НЕ было…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58879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460</Words>
  <Application>Microsoft Office PowerPoint</Application>
  <PresentationFormat>Широкоэкранный</PresentationFormat>
  <Paragraphs>88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Тема Office</vt:lpstr>
      <vt:lpstr>Машинное обучение для анализа научных данных</vt:lpstr>
      <vt:lpstr>Примерный план курса</vt:lpstr>
      <vt:lpstr>Как закрыть курс?</vt:lpstr>
      <vt:lpstr>Что за ДЗ такие?</vt:lpstr>
      <vt:lpstr>Как сдавать ДЗ?</vt:lpstr>
      <vt:lpstr>Пример открытия PR</vt:lpstr>
      <vt:lpstr>Когда сдавать ДЗ?</vt:lpstr>
      <vt:lpstr>Использование ИИ</vt:lpstr>
      <vt:lpstr>Коммуникация</vt:lpstr>
      <vt:lpstr>Небольшая синхронизация</vt:lpstr>
      <vt:lpstr>Небольшая синхронизация</vt:lpstr>
      <vt:lpstr>Небольшая синхронизация</vt:lpstr>
      <vt:lpstr>Ожидания от курса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Типология задач машинного обучения</dc:title>
  <dc:creator>Кристина Желтова</dc:creator>
  <cp:lastModifiedBy>Кристина Желтова</cp:lastModifiedBy>
  <cp:revision>131</cp:revision>
  <dcterms:created xsi:type="dcterms:W3CDTF">2023-01-09T13:10:05Z</dcterms:created>
  <dcterms:modified xsi:type="dcterms:W3CDTF">2026-09-21T14:02:07Z</dcterms:modified>
</cp:coreProperties>
</file>